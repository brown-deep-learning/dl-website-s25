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7" r:id="rId3"/>
    <p:sldId id="259" r:id="rId4"/>
    <p:sldId id="261" r:id="rId5"/>
    <p:sldId id="258" r:id="rId6"/>
    <p:sldId id="260" r:id="rId7"/>
    <p:sldId id="262" r:id="rId8"/>
    <p:sldId id="263" r:id="rId9"/>
    <p:sldId id="264" r:id="rId10"/>
    <p:sldId id="266" r:id="rId11"/>
    <p:sldId id="265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87"/>
    <p:restoredTop sz="96110"/>
  </p:normalViewPr>
  <p:slideViewPr>
    <p:cSldViewPr snapToGrid="0">
      <p:cViewPr varScale="1">
        <p:scale>
          <a:sx n="111" d="100"/>
          <a:sy n="111" d="100"/>
        </p:scale>
        <p:origin x="29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1E54F-51A5-85CE-F742-94B5197DA3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90EA93-EBF4-F1A3-4142-AD0D83190A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2FB602-15E5-02D2-ACA7-1774337A8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E5D82-3BD7-0544-81A4-9E34515A5A20}" type="datetimeFigureOut">
              <a:rPr lang="en-US" smtClean="0"/>
              <a:t>4/11/25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8FC207-B85D-7B65-084C-10C387655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800647-CCE8-7C6F-F131-E2A2ACCD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6B72E-5471-2240-B3A4-AD50807D0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218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B3FB3-485F-46DB-95CD-316966CE9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908E2F-59FD-F890-BAF8-8945A05E12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83D290-63B2-3432-264A-D9944BAEA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E5D82-3BD7-0544-81A4-9E34515A5A20}" type="datetimeFigureOut">
              <a:rPr lang="en-US" smtClean="0"/>
              <a:t>4/11/25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461E3-3A0F-BC61-2B13-88013FFB4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2BCD3-96C7-74FE-B9DD-038891DE7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6B72E-5471-2240-B3A4-AD50807D0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308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3C384-97E4-540E-0B82-8B40C941C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52FCF2-3DE2-AD19-1861-5DF617AD2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8BA33-C4E0-767A-CB4C-669053A5C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E5D82-3BD7-0544-81A4-9E34515A5A20}" type="datetimeFigureOut">
              <a:rPr lang="en-US" smtClean="0"/>
              <a:t>4/11/25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C4B7FA-972D-3DF7-C86B-602719C84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7AAD73-317C-6A8A-2181-E922C1DE2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6B72E-5471-2240-B3A4-AD50807D0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06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AD298-1F41-34B2-BB8F-1FA927551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E49E9-EBE0-9456-8BC7-41A7878D6B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1CF628-0B51-D046-AF2E-484C273D10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7741E2-5C50-8AC4-F3D4-89A3009C4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E5D82-3BD7-0544-81A4-9E34515A5A20}" type="datetimeFigureOut">
              <a:rPr lang="en-US" smtClean="0"/>
              <a:t>4/11/25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E55E6E-3550-3F1C-9E6B-30897A6E9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191897-591A-A141-37D1-8D0E98690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6B72E-5471-2240-B3A4-AD50807D0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648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BB3C6-C86F-DDAD-EB97-AE6B68C33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7B1B7B-AA66-6504-67F3-FCCAA5C73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A00AC2-547A-AE65-6E75-F96D644EF7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ADC04E-1F7A-B307-D356-3DDA4FC8F6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63DEFA-2B7C-DE71-FB47-020D4CED41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549AD6-4203-311A-8609-D175762AC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E5D82-3BD7-0544-81A4-9E34515A5A20}" type="datetimeFigureOut">
              <a:rPr lang="en-US" smtClean="0"/>
              <a:t>4/11/25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345F68-0288-EF29-AFC9-BCA5FAB38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74F0F1-843F-0EDA-1CBD-0EBFE2882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6B72E-5471-2240-B3A4-AD50807D0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29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0DBCF-CBC5-28E3-A7D0-977C08BF3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3435F7-600F-7A8E-A9C9-14827A1BB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E5D82-3BD7-0544-81A4-9E34515A5A20}" type="datetimeFigureOut">
              <a:rPr lang="en-US" smtClean="0"/>
              <a:t>4/11/25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9EF6B8-0065-CA76-7B7D-50388F631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6AD39F-23B6-1632-1939-2F7202D3E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6B72E-5471-2240-B3A4-AD50807D0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752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90B9D9-8A2D-AB0E-6611-D227FADAC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E5D82-3BD7-0544-81A4-9E34515A5A20}" type="datetimeFigureOut">
              <a:rPr lang="en-US" smtClean="0"/>
              <a:t>4/11/25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63B929-B3A6-A16F-398D-67D5DE335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C81FD9-D154-60FC-0D0A-18739FC31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6B72E-5471-2240-B3A4-AD50807D0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63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8AC19-0686-8427-E497-D981A13CC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F3BFB-58F9-4525-73ED-EEA6F9C66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EE5925-DCE5-D54A-26A2-4DC7F075A0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7D03AC-AFCB-C296-8D8B-8A5181870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E5D82-3BD7-0544-81A4-9E34515A5A20}" type="datetimeFigureOut">
              <a:rPr lang="en-US" smtClean="0"/>
              <a:t>4/11/25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84B7C4-8A27-20BD-C767-E2E4863F0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217ECF-3489-719C-B456-42C52DA4B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6B72E-5471-2240-B3A4-AD50807D0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832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DD41B-BF9A-657D-A52D-99A2FDB0C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2C48A0-15C6-D9CD-42BD-F4F337371F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A7D646-DC4C-2462-E832-4EA7C75259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C6B25C-550E-8DF0-D910-A0F951E53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E5D82-3BD7-0544-81A4-9E34515A5A20}" type="datetimeFigureOut">
              <a:rPr lang="en-US" smtClean="0"/>
              <a:t>4/11/25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C35612-CF35-AC4E-C755-375E44841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4BEDA2-C3DF-43E3-6B7F-AEE0A44D7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6B72E-5471-2240-B3A4-AD50807D0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236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56701-D090-3CB7-59E8-3EE37CD4D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2519E6-822B-18B4-92C3-5BBE6B27C8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EE1BD-B227-1F1B-D68C-EE97D3874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E5D82-3BD7-0544-81A4-9E34515A5A20}" type="datetimeFigureOut">
              <a:rPr lang="en-US" smtClean="0"/>
              <a:t>4/11/25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AD7E2D-A969-EF7E-5F2C-70C61F484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71D5EB-0554-C0D3-4F85-1B7F6FEDC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6B72E-5471-2240-B3A4-AD50807D0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23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3C4CF3-A81F-1394-670F-D63DBB18A2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809FF9-8A2B-474C-DD13-447FD06D22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72F455-80BE-20E2-FE00-8BABD2C50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E5D82-3BD7-0544-81A4-9E34515A5A20}" type="datetimeFigureOut">
              <a:rPr lang="en-US" smtClean="0"/>
              <a:t>4/11/25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3DB42-A357-26C5-848F-6E423DA45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1ADEF7-3941-5BA9-16D7-E95C4F21A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6B72E-5471-2240-B3A4-AD50807D0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389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173EEB-D64F-D125-D436-94E125E9A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FE5CEE-BAA4-F70B-5B97-9FABFF818F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AE8126-E66D-C527-05C9-DB2BCEA8C4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6E5D82-3BD7-0544-81A4-9E34515A5A20}" type="datetimeFigureOut">
              <a:rPr lang="en-US" smtClean="0"/>
              <a:t>4/11/25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EFC23D-58A1-BA46-1426-998B18CAE8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5DB81-A897-85E3-B92D-8784FE95E2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E6B72E-5471-2240-B3A4-AD50807D0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53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999B159-DA99-093C-74D0-A1B4781394F3}"/>
              </a:ext>
            </a:extLst>
          </p:cNvPr>
          <p:cNvSpPr txBox="1">
            <a:spLocks/>
          </p:cNvSpPr>
          <p:nvPr/>
        </p:nvSpPr>
        <p:spPr>
          <a:xfrm>
            <a:off x="4018753" y="-153646"/>
            <a:ext cx="6429939" cy="1073150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>
                <a:solidFill>
                  <a:srgbClr val="FFFF00"/>
                </a:solidFill>
                <a:latin typeface="Montserrat" pitchFamily="2" charset="77"/>
              </a:rPr>
              <a:t>Deep Learning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2EB0DB-A7BC-A363-C725-8F88858D3F12}"/>
              </a:ext>
            </a:extLst>
          </p:cNvPr>
          <p:cNvSpPr txBox="1"/>
          <p:nvPr/>
        </p:nvSpPr>
        <p:spPr>
          <a:xfrm>
            <a:off x="685800" y="3555354"/>
            <a:ext cx="1822935" cy="461665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FF00"/>
                </a:solidFill>
                <a:latin typeface="Montserrat" pitchFamily="2" charset="77"/>
              </a:rPr>
              <a:t>Eric Ewing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5AC88E-BD7D-E81B-D3D5-3565671B92D9}"/>
              </a:ext>
            </a:extLst>
          </p:cNvPr>
          <p:cNvSpPr txBox="1"/>
          <p:nvPr/>
        </p:nvSpPr>
        <p:spPr>
          <a:xfrm>
            <a:off x="685800" y="2165350"/>
            <a:ext cx="1625766" cy="461665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FF00"/>
                </a:solidFill>
                <a:latin typeface="Montserrat" pitchFamily="2" charset="77"/>
              </a:rPr>
              <a:t>CSCI</a:t>
            </a:r>
            <a:r>
              <a:rPr lang="en-US" sz="2400" dirty="0">
                <a:solidFill>
                  <a:srgbClr val="FFFF00"/>
                </a:solidFill>
              </a:rPr>
              <a:t> 1470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FE59C5-A304-A2F3-67A8-BB8D7818BE54}"/>
              </a:ext>
            </a:extLst>
          </p:cNvPr>
          <p:cNvSpPr txBox="1"/>
          <p:nvPr/>
        </p:nvSpPr>
        <p:spPr>
          <a:xfrm>
            <a:off x="685800" y="4945358"/>
            <a:ext cx="1188146" cy="830997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FF00"/>
                </a:solidFill>
                <a:latin typeface="Montserrat" pitchFamily="2" charset="77"/>
              </a:rPr>
              <a:t>Friday,</a:t>
            </a:r>
          </a:p>
          <a:p>
            <a:r>
              <a:rPr lang="en-US" sz="2400" dirty="0">
                <a:solidFill>
                  <a:srgbClr val="FFFF00"/>
                </a:solidFill>
                <a:latin typeface="Montserrat" pitchFamily="2" charset="77"/>
              </a:rPr>
              <a:t>4/11/25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151C50-9D23-914C-5B2D-7AE7C6900423}"/>
              </a:ext>
            </a:extLst>
          </p:cNvPr>
          <p:cNvSpPr txBox="1"/>
          <p:nvPr/>
        </p:nvSpPr>
        <p:spPr>
          <a:xfrm>
            <a:off x="4609536" y="844979"/>
            <a:ext cx="7439589" cy="523220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FF00"/>
                </a:solidFill>
                <a:latin typeface="Montserrat" pitchFamily="2" charset="77"/>
              </a:rPr>
              <a:t>Day 30: Tabular Methods of RL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302F16-2370-E642-028E-E7F853D16F69}"/>
              </a:ext>
            </a:extLst>
          </p:cNvPr>
          <p:cNvCxnSpPr>
            <a:cxnSpLocks/>
          </p:cNvCxnSpPr>
          <p:nvPr/>
        </p:nvCxnSpPr>
        <p:spPr>
          <a:xfrm>
            <a:off x="3143250" y="1628775"/>
            <a:ext cx="0" cy="4314825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8AFC5CB-B1BD-26B3-A84E-B580CC0E46D1}"/>
              </a:ext>
            </a:extLst>
          </p:cNvPr>
          <p:cNvSpPr txBox="1"/>
          <p:nvPr/>
        </p:nvSpPr>
        <p:spPr>
          <a:xfrm>
            <a:off x="1122744" y="19329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D3A8E3-C68E-DE00-4466-37FCE5D65393}"/>
              </a:ext>
            </a:extLst>
          </p:cNvPr>
          <p:cNvSpPr txBox="1"/>
          <p:nvPr/>
        </p:nvSpPr>
        <p:spPr>
          <a:xfrm>
            <a:off x="-18530" y="6488668"/>
            <a:ext cx="2282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Space Invaders, Atari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74922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FFDE0-9F3E-D156-7BD0-314334578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RL vs. Other Deep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BDB677-250E-7C1B-41F5-29473EF308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539" y="1825625"/>
            <a:ext cx="11678856" cy="4351338"/>
          </a:xfrm>
        </p:spPr>
        <p:txBody>
          <a:bodyPr/>
          <a:lstStyle/>
          <a:p>
            <a:r>
              <a:rPr lang="en-US" dirty="0"/>
              <a:t>This class has mostly focused on data (e.g., framing as supervised or unsupervised problem, adapting to new modalities) and architectures</a:t>
            </a:r>
          </a:p>
          <a:p>
            <a:r>
              <a:rPr lang="en-US" dirty="0"/>
              <a:t>In RL, the data and architectures matter less than the algorithms we use to update our networks</a:t>
            </a:r>
          </a:p>
          <a:p>
            <a:pPr lvl="1"/>
            <a:r>
              <a:rPr lang="en-US" dirty="0"/>
              <a:t>Sometimes RL algorithms compute the gradients directly</a:t>
            </a:r>
          </a:p>
          <a:p>
            <a:pPr lvl="1"/>
            <a:r>
              <a:rPr lang="en-US" dirty="0"/>
              <a:t>Determining the proper loss function is harder than just choosing between MSE or Cross Entropy.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C9F333-24DC-28E3-B887-E215DA8F368E}"/>
              </a:ext>
            </a:extLst>
          </p:cNvPr>
          <p:cNvSpPr txBox="1"/>
          <p:nvPr/>
        </p:nvSpPr>
        <p:spPr>
          <a:xfrm>
            <a:off x="3600450" y="5586413"/>
            <a:ext cx="4769832" cy="369332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More time on the blackboard than other topics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15970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7CE9F-4AE6-CDD1-BC77-7B11558B9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Markov Decision Process (MDP)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8C342-CAF1-FA47-D524-715A7D8EC1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Consist of:</a:t>
            </a:r>
          </a:p>
          <a:p>
            <a:r>
              <a:rPr lang="en-US" dirty="0"/>
              <a:t>States: Set of all possible ways the world can be</a:t>
            </a:r>
          </a:p>
          <a:p>
            <a:r>
              <a:rPr lang="en-US" dirty="0"/>
              <a:t>Actions: Set of all actions the agent can take</a:t>
            </a:r>
          </a:p>
          <a:p>
            <a:r>
              <a:rPr lang="en-US" dirty="0"/>
              <a:t>Reward: Function mapping states to reward values</a:t>
            </a:r>
          </a:p>
          <a:p>
            <a:r>
              <a:rPr lang="en-US" dirty="0"/>
              <a:t>Transitions: Function mapping (state, action) pairs to a distribution over next states.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600ECB1-354F-7DE8-758F-28A273471A66}"/>
                  </a:ext>
                </a:extLst>
              </p:cNvPr>
              <p:cNvSpPr txBox="1"/>
              <p:nvPr/>
            </p:nvSpPr>
            <p:spPr>
              <a:xfrm>
                <a:off x="2707925" y="5653743"/>
                <a:ext cx="677615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Seek a policy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2800" dirty="0"/>
                  <a:t> that maps states to actions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600ECB1-354F-7DE8-758F-28A273471A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7925" y="5653743"/>
                <a:ext cx="6776150" cy="523220"/>
              </a:xfrm>
              <a:prstGeom prst="rect">
                <a:avLst/>
              </a:prstGeom>
              <a:blipFill>
                <a:blip r:embed="rId3"/>
                <a:stretch>
                  <a:fillRect l="-1873" t="-9302" r="-936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587320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39BF8-DC37-A8F0-4177-08ACF2B3E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Gamma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491DFC-1EEA-3946-CB2A-12C28309BC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One more term to add to MDPs: a discount factor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∈[0, 1]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Some MDPs have no terminal state (or otherwise can have an agent take infinitely many actions)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We care about the total reward the agent gets, how do we reason about that when we need to sum infinitely many things?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491DFC-1EEA-3946-CB2A-12C28309BC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06" t="-2326" r="-8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8C2E820-D2E9-9A4E-12A0-C7889C881030}"/>
                  </a:ext>
                </a:extLst>
              </p:cNvPr>
              <p:cNvSpPr txBox="1"/>
              <p:nvPr/>
            </p:nvSpPr>
            <p:spPr>
              <a:xfrm>
                <a:off x="3738621" y="5483540"/>
                <a:ext cx="601883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The discount factor is a helpful mathematical trick: Each step into the future, we care about reward a little less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8C2E820-D2E9-9A4E-12A0-C7889C8810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8621" y="5483540"/>
                <a:ext cx="6018837" cy="1200329"/>
              </a:xfrm>
              <a:prstGeom prst="rect">
                <a:avLst/>
              </a:prstGeom>
              <a:blipFill>
                <a:blip r:embed="rId4"/>
                <a:stretch>
                  <a:fillRect l="-842" t="-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B242E0DD-A68B-FBF2-4070-9CCC0A6C3868}"/>
              </a:ext>
            </a:extLst>
          </p:cNvPr>
          <p:cNvSpPr txBox="1"/>
          <p:nvPr/>
        </p:nvSpPr>
        <p:spPr>
          <a:xfrm>
            <a:off x="1192193" y="6100394"/>
            <a:ext cx="4055469" cy="369332"/>
          </a:xfrm>
          <a:prstGeom prst="rect">
            <a:avLst/>
          </a:prstGeom>
          <a:solidFill>
            <a:srgbClr val="FFC000"/>
          </a:solidFill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This sum is never infinite if </a:t>
            </a:r>
            <a:r>
              <a:rPr lang="en-US" i="1" dirty="0"/>
              <a:t>r </a:t>
            </a:r>
            <a:r>
              <a:rPr lang="en-US" dirty="0"/>
              <a:t>is bounded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48193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8144B-CB23-98A2-84DF-9E9076830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Terms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1B9AE3-6F56-D3DD-5DBE-32DF03993D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Episode: (For </a:t>
                </a:r>
                <a:r>
                  <a:rPr lang="en-US" i="1" dirty="0"/>
                  <a:t>Episodic</a:t>
                </a:r>
                <a:r>
                  <a:rPr lang="en-US" dirty="0"/>
                  <a:t> MDPs with defined start and terminal states)  a single run through of the MDP from a start state to a terminal state (or until a cutoff time </a:t>
                </a:r>
                <a:r>
                  <a:rPr lang="en-US" i="1" dirty="0"/>
                  <a:t>T</a:t>
                </a:r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Trajectory: state, action, reward for every timestep in an episode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Return: Cumulative discounted rewards from timestep </a:t>
                </a:r>
                <a:r>
                  <a:rPr lang="en-US" i="1" dirty="0"/>
                  <a:t>t</a:t>
                </a:r>
                <a:r>
                  <a:rPr lang="en-US" dirty="0"/>
                  <a:t> for a single episode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 return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(sometimes just denoted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total discounted reward of the entire episode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1B9AE3-6F56-D3DD-5DBE-32DF03993D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24" t="-2035" r="-362" b="-174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718504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AC73A-5E5B-0E52-E8BB-8D6EF13B4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Breakout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98B8C57-40AA-BB8D-031B-4ED9D127BA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Episode: From start of game until player loses (or wins)</a:t>
                </a:r>
              </a:p>
              <a:p>
                <a:r>
                  <a:rPr lang="en-US" dirty="0"/>
                  <a:t>Trajectory: list of all states, actions, and rewards from that episode</a:t>
                </a:r>
              </a:p>
              <a:p>
                <a:r>
                  <a:rPr lang="en-US" dirty="0"/>
                  <a:t>Return: Cumulative discounted reward of that trajectory (if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, then it is the sum of all rewards)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98B8C57-40AA-BB8D-031B-4ED9D127BA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4924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479FB-1CF9-888A-2917-44EBD2244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Terms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347C9B-5F77-BA32-C11C-7FDE82622E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Value of a state: the </a:t>
                </a:r>
                <a:r>
                  <a:rPr lang="en-US" b="1" dirty="0"/>
                  <a:t>expected</a:t>
                </a:r>
                <a:r>
                  <a:rPr lang="en-US" dirty="0"/>
                  <a:t> returns from a state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Q-Values: The expected returns of being in a state and </a:t>
                </a:r>
                <a:r>
                  <a:rPr lang="en-US" b="1" dirty="0"/>
                  <a:t>taking an action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~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′)]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347C9B-5F77-BA32-C11C-7FDE82622E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051705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F3EAF-906A-C8F4-2445-07A24D822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91A24F-E9E1-189A-C5D6-F8B5E81C01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𝔼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[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</m:oMath>
                </a14:m>
                <a:r>
                  <a:rPr lang="en-US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[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endParaRPr lang="en-US" b="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𝛾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91A24F-E9E1-189A-C5D6-F8B5E81C01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t="-4070" b="-215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0B29245C-028C-A0F4-E62C-FEBDF2481596}"/>
              </a:ext>
            </a:extLst>
          </p:cNvPr>
          <p:cNvSpPr txBox="1"/>
          <p:nvPr/>
        </p:nvSpPr>
        <p:spPr>
          <a:xfrm>
            <a:off x="3017721" y="5388570"/>
            <a:ext cx="6156557" cy="923330"/>
          </a:xfrm>
          <a:prstGeom prst="rect">
            <a:avLst/>
          </a:prstGeom>
          <a:solidFill>
            <a:srgbClr val="FFC000"/>
          </a:solidFill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We can the value function as a recursive formula:</a:t>
            </a:r>
          </a:p>
          <a:p>
            <a:r>
              <a:rPr lang="en-US" dirty="0"/>
              <a:t>How good it is to be in a state is the immediate reward </a:t>
            </a:r>
          </a:p>
          <a:p>
            <a:r>
              <a:rPr lang="en-US" dirty="0"/>
              <a:t>for being in that state + the expected returns for future states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180D9A8-E9CB-704D-38E3-998EE30CDCF9}"/>
                  </a:ext>
                </a:extLst>
              </p:cNvPr>
              <p:cNvSpPr txBox="1"/>
              <p:nvPr/>
            </p:nvSpPr>
            <p:spPr>
              <a:xfrm>
                <a:off x="324093" y="1489479"/>
                <a:ext cx="2997842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A value function is defined for a specific policy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! </a:t>
                </a:r>
              </a:p>
              <a:p>
                <a:endParaRPr lang="en-US" dirty="0"/>
              </a:p>
              <a:p>
                <a:r>
                  <a:rPr lang="en-US" dirty="0"/>
                  <a:t>(If you have a bad policy, you expect your values to be smaller)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180D9A8-E9CB-704D-38E3-998EE30CDC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093" y="1489479"/>
                <a:ext cx="2997842" cy="1754326"/>
              </a:xfrm>
              <a:prstGeom prst="rect">
                <a:avLst/>
              </a:prstGeom>
              <a:blipFill>
                <a:blip r:embed="rId4"/>
                <a:stretch>
                  <a:fillRect l="-1688" t="-1439" r="-2110" b="-50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CCD54EF1-20BD-E943-3C8A-76BA11075433}"/>
              </a:ext>
            </a:extLst>
          </p:cNvPr>
          <p:cNvSpPr txBox="1"/>
          <p:nvPr/>
        </p:nvSpPr>
        <p:spPr>
          <a:xfrm>
            <a:off x="0" y="4655377"/>
            <a:ext cx="3217762" cy="369332"/>
          </a:xfrm>
          <a:prstGeom prst="rect">
            <a:avLst/>
          </a:prstGeom>
          <a:solidFill>
            <a:srgbClr val="FFC000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This is called policy evaluation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72242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4FF3C1D-CEE4-0FD6-4C1F-34297D4083D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Value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Policy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4FF3C1D-CEE4-0FD6-4C1F-34297D4083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788279-1482-B55C-5CBC-8903D62D4A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1023" y="1825625"/>
                <a:ext cx="11272777" cy="435133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What if we don’t have a policy already and want to find one?</a:t>
                </a:r>
              </a:p>
              <a:p>
                <a:pPr marL="0" indent="0">
                  <a:buNone/>
                </a:pPr>
                <a:r>
                  <a:rPr lang="en-US" dirty="0"/>
                  <a:t>If we already have a value function: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For every state</a:t>
                </a:r>
              </a:p>
              <a:p>
                <a:pPr marL="0" indent="0">
                  <a:buNone/>
                </a:pPr>
                <a:r>
                  <a:rPr lang="en-US" dirty="0"/>
                  <a:t>	iterate over all possible actions</a:t>
                </a:r>
              </a:p>
              <a:p>
                <a:pPr marL="0" indent="0">
                  <a:buNone/>
                </a:pPr>
                <a:r>
                  <a:rPr lang="en-US" dirty="0"/>
                  <a:t>		calculate the expected value if the agent takes that action</a:t>
                </a:r>
              </a:p>
              <a:p>
                <a:pPr marL="0" indent="0">
                  <a:buNone/>
                </a:pPr>
                <a:r>
                  <a:rPr lang="en-US" dirty="0"/>
                  <a:t>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  <m:sup/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m:rPr>
                            <m:nor/>
                          </m:rPr>
                          <a:rPr lang="en-US" b="0" dirty="0"/>
                          <m:t> </m:t>
                        </m:r>
                      </m:e>
                    </m:nary>
                  </m:oMath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	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dirty="0"/>
                  <a:t> to be the action with highest expected Q-value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788279-1482-B55C-5CBC-8903D62D4A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023" y="1825625"/>
                <a:ext cx="11272777" cy="4351338"/>
              </a:xfrm>
              <a:blipFill>
                <a:blip r:embed="rId4"/>
                <a:stretch>
                  <a:fillRect l="-1125" t="-3198" b="-9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F3873648-BB04-997A-FDB2-8D103477D62B}"/>
              </a:ext>
            </a:extLst>
          </p:cNvPr>
          <p:cNvSpPr txBox="1"/>
          <p:nvPr/>
        </p:nvSpPr>
        <p:spPr>
          <a:xfrm>
            <a:off x="4213185" y="6319777"/>
            <a:ext cx="3475695" cy="369332"/>
          </a:xfrm>
          <a:prstGeom prst="rect">
            <a:avLst/>
          </a:prstGeom>
          <a:solidFill>
            <a:srgbClr val="FFC000"/>
          </a:solidFill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This is called </a:t>
            </a:r>
            <a:r>
              <a:rPr lang="en-US" i="1" dirty="0"/>
              <a:t>policy improvement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22052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89AE6-6D38-693B-9EB4-B7AC477E6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 Iteration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C1B7A-0E21-10AD-0E89-EB0C40E4E0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Start with a random Value function V</a:t>
            </a:r>
          </a:p>
          <a:p>
            <a:pPr marL="514350" indent="-514350">
              <a:buAutoNum type="arabicPeriod"/>
            </a:pPr>
            <a:r>
              <a:rPr lang="en-US" dirty="0"/>
              <a:t>Run Policy Improvement to determine best actions at each state</a:t>
            </a:r>
          </a:p>
          <a:p>
            <a:pPr marL="514350" indent="-514350">
              <a:buAutoNum type="arabicPeriod"/>
            </a:pPr>
            <a:r>
              <a:rPr lang="en-US" dirty="0"/>
              <a:t>Run Policy Estimation to determine the new values with the updated policy</a:t>
            </a:r>
          </a:p>
          <a:p>
            <a:pPr marL="514350" indent="-514350">
              <a:buAutoNum type="arabicPeriod"/>
            </a:pPr>
            <a:r>
              <a:rPr lang="en-US" dirty="0"/>
              <a:t>Repeat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143829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5B9F8-2320-9F35-A16E-A74C842A5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 Iteration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820E2-3060-AF08-0E79-2393157F09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Repeatedly apply Policy Estimation and Policy improvement steps</a:t>
            </a:r>
          </a:p>
          <a:p>
            <a:pPr marL="0" indent="0">
              <a:buNone/>
            </a:pPr>
            <a:r>
              <a:rPr lang="en-US" dirty="0"/>
              <a:t>Run until convergence (i.e., estimates of V no longer changes) </a:t>
            </a:r>
          </a:p>
        </p:txBody>
      </p:sp>
      <p:pic>
        <p:nvPicPr>
          <p:cNvPr id="5" name="Picture 4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39A8666D-FFB2-1649-96B8-6E2A3EEB6F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355" y="2769898"/>
            <a:ext cx="6643867" cy="385773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00416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5DD75-BA6F-F106-C964-567373498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Tabular Value Iteration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5A6F08-7B31-B01B-93EB-2A41D328CB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Value iteration is typically a dynamic programming algorithms</a:t>
                </a:r>
              </a:p>
              <a:p>
                <a:pPr marL="0" indent="0">
                  <a:buNone/>
                </a:pPr>
                <a:r>
                  <a:rPr lang="en-US" dirty="0"/>
                  <a:t>A table of values is constructed (one row for each state) and then updated according to the Bellman Equation: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b>
                            <m:sup/>
                            <m:e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Pr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5A6F08-7B31-B01B-93EB-2A41D328CB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06" t="-6686" b="-14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6532628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C5839-AAD4-C65E-3DF9-968C6377E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Q-Learning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0487D5-D9E8-E65C-20B2-90C4454754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Q-Learning is our first actual RL algorithm</a:t>
                </a:r>
              </a:p>
              <a:p>
                <a:pPr marL="0" indent="0">
                  <a:buNone/>
                </a:pPr>
                <a:r>
                  <a:rPr lang="en-US" dirty="0"/>
                  <a:t>- Reinforcement Learning algorithms actually simulate episodes, gather trajectories, and learn from experiences.</a:t>
                </a:r>
              </a:p>
              <a:p>
                <a:pPr marL="0" indent="0">
                  <a:buNone/>
                </a:pPr>
                <a:r>
                  <a:rPr lang="en-US" dirty="0"/>
                  <a:t>- Collect experiences (i.e.: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’)</m:t>
                    </m:r>
                  </m:oMath>
                </a14:m>
                <a:r>
                  <a:rPr lang="en-US" dirty="0"/>
                  <a:t> tuples)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𝛾</m:t>
                      </m:r>
                      <m:limLow>
                        <m:limLow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lim>
                      </m:limLow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0487D5-D9E8-E65C-20B2-90C4454754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2135999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9D3DE-6E68-B092-1187-81D33D45D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705AA-E1CA-44C9-1ED5-FD2783658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Q-Learning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E8BE16-A44E-A99A-072F-330C9CBBB9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Q-Learning is our first actual RL algorithm</a:t>
                </a:r>
              </a:p>
              <a:p>
                <a:pPr marL="0" indent="0">
                  <a:buNone/>
                </a:pPr>
                <a:r>
                  <a:rPr lang="en-US" dirty="0"/>
                  <a:t>- Reinforcement Learning algorithms actually simulate episodes, gather trajectories, and learn from experiences.</a:t>
                </a:r>
              </a:p>
              <a:p>
                <a:pPr marL="0" indent="0">
                  <a:buNone/>
                </a:pPr>
                <a:r>
                  <a:rPr lang="en-US" dirty="0"/>
                  <a:t>- Collect experiences (i.e.: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’)</m:t>
                    </m:r>
                  </m:oMath>
                </a14:m>
                <a:r>
                  <a:rPr lang="en-US" dirty="0"/>
                  <a:t> tuples)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𝛾</m:t>
                      </m:r>
                      <m:limLow>
                        <m:limLow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lim>
                      </m:limLow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E8BE16-A44E-A99A-072F-330C9CBBB9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14C8B122-0814-73DE-4B2B-CCFB3789A597}"/>
              </a:ext>
            </a:extLst>
          </p:cNvPr>
          <p:cNvSpPr txBox="1"/>
          <p:nvPr/>
        </p:nvSpPr>
        <p:spPr>
          <a:xfrm>
            <a:off x="544010" y="5359078"/>
            <a:ext cx="7609006" cy="646331"/>
          </a:xfrm>
          <a:prstGeom prst="rect">
            <a:avLst/>
          </a:prstGeom>
          <a:solidFill>
            <a:srgbClr val="FFC000"/>
          </a:solidFill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Important:</a:t>
            </a:r>
          </a:p>
          <a:p>
            <a:r>
              <a:rPr lang="en-US" dirty="0"/>
              <a:t>How do we collect experiences (i.e., how do we select what action to take)?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02BE89-D02E-B6A4-C452-696C96935F6F}"/>
              </a:ext>
            </a:extLst>
          </p:cNvPr>
          <p:cNvSpPr txBox="1"/>
          <p:nvPr/>
        </p:nvSpPr>
        <p:spPr>
          <a:xfrm>
            <a:off x="544010" y="6169709"/>
            <a:ext cx="4013215" cy="369332"/>
          </a:xfrm>
          <a:prstGeom prst="rect">
            <a:avLst/>
          </a:prstGeom>
          <a:solidFill>
            <a:srgbClr val="FFC000"/>
          </a:solidFill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How do we update our estimates of Q?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8824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01296-8809-29DA-FAF2-438DCAA03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Collecting Experiences</a:t>
            </a:r>
          </a:p>
        </p:txBody>
      </p:sp>
      <p:pic>
        <p:nvPicPr>
          <p:cNvPr id="1026" name="Picture 2" descr="Breakout - (1976) - Arcade - gameplay HD">
            <a:extLst>
              <a:ext uri="{FF2B5EF4-FFF2-40B4-BE49-F238E27FC236}">
                <a16:creationId xmlns:a16="http://schemas.microsoft.com/office/drawing/2014/main" id="{B23A5641-C820-80C6-C426-5740E7BE1FB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7141" y="2319789"/>
            <a:ext cx="3943860" cy="2218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7C574B5-B296-3D6D-A693-DD489BACB6A7}"/>
              </a:ext>
            </a:extLst>
          </p:cNvPr>
          <p:cNvSpPr txBox="1"/>
          <p:nvPr/>
        </p:nvSpPr>
        <p:spPr>
          <a:xfrm>
            <a:off x="925975" y="1875099"/>
            <a:ext cx="59896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if we always took the action go-right?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We’d update our estimates for go-right, but never go-left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8F5CDEC-8CE4-955B-1AB0-7E3F8FAFEBC7}"/>
                  </a:ext>
                </a:extLst>
              </p:cNvPr>
              <p:cNvSpPr txBox="1"/>
              <p:nvPr/>
            </p:nvSpPr>
            <p:spPr>
              <a:xfrm>
                <a:off x="6979142" y="573166"/>
                <a:ext cx="6099858" cy="4547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𝛾</m:t>
                      </m:r>
                      <m:limLow>
                        <m:limLow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lim>
                      </m:limLow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8F5CDEC-8CE4-955B-1AB0-7E3F8FAFEB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9142" y="573166"/>
                <a:ext cx="6099858" cy="45474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A2B31538-8AD2-13F2-5E38-91FBDA171C93}"/>
              </a:ext>
            </a:extLst>
          </p:cNvPr>
          <p:cNvSpPr txBox="1"/>
          <p:nvPr/>
        </p:nvSpPr>
        <p:spPr>
          <a:xfrm>
            <a:off x="838201" y="3105833"/>
            <a:ext cx="48565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if we take uniform random actions?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We’d update estimates for both right and left, but we’d be unlikely to get too far into the game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B5ED5DB-3EFD-9D04-6734-1D5E95C392B6}"/>
                  </a:ext>
                </a:extLst>
              </p:cNvPr>
              <p:cNvSpPr txBox="1"/>
              <p:nvPr/>
            </p:nvSpPr>
            <p:spPr>
              <a:xfrm>
                <a:off x="925975" y="5006010"/>
                <a:ext cx="8669438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What if we find a happy middle ground between fully deterministic and fully random?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With probability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 take a random action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With probability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 take the best action (action with highest Q-value)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B5ED5DB-3EFD-9D04-6734-1D5E95C392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975" y="5006010"/>
                <a:ext cx="8669438" cy="923330"/>
              </a:xfrm>
              <a:prstGeom prst="rect">
                <a:avLst/>
              </a:prstGeom>
              <a:blipFill>
                <a:blip r:embed="rId5"/>
                <a:stretch>
                  <a:fillRect l="-585" t="-2703" b="-9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3657E3F-155F-0F22-423A-99A63638ABEB}"/>
                  </a:ext>
                </a:extLst>
              </p:cNvPr>
              <p:cNvSpPr txBox="1"/>
              <p:nvPr/>
            </p:nvSpPr>
            <p:spPr>
              <a:xfrm>
                <a:off x="3391382" y="6027808"/>
                <a:ext cx="5197033" cy="369332"/>
              </a:xfrm>
              <a:prstGeom prst="rect">
                <a:avLst/>
              </a:prstGeom>
              <a:solidFill>
                <a:srgbClr val="FFC000"/>
              </a:solidFill>
              <a:ln w="3810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-greedy Algorithm for balancing exploration in RL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3657E3F-155F-0F22-423A-99A63638AB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1382" y="6027808"/>
                <a:ext cx="5197033" cy="369332"/>
              </a:xfrm>
              <a:prstGeom prst="rect">
                <a:avLst/>
              </a:prstGeom>
              <a:blipFill>
                <a:blip r:embed="rId6"/>
                <a:stretch>
                  <a:fillRect t="-3125" b="-21875"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4049577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834D7-6D63-91DC-FB96-B73403CAF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Updating estimates of Q-values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DDA781-933E-E62B-73B8-77A1B229E7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Q-learning: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Cambria Math" panose="02040503050406030204" pitchFamily="18" charset="0"/>
                  </a:rPr>
                  <a:t>Maintain estimates of Q(s, a) for all (s, a) pairs</a:t>
                </a:r>
              </a:p>
              <a:p>
                <a:pPr marL="0" indent="0">
                  <a:buNone/>
                </a:pPr>
                <a:r>
                  <a:rPr lang="en-US" b="0" dirty="0">
                    <a:latin typeface="Cambria Math" panose="02040503050406030204" pitchFamily="18" charset="0"/>
                  </a:rPr>
                  <a:t>	Collect experiences, u</a:t>
                </a:r>
                <a:r>
                  <a:rPr lang="en-US" dirty="0">
                    <a:latin typeface="Cambria Math" panose="02040503050406030204" pitchFamily="18" charset="0"/>
                  </a:rPr>
                  <a:t>pdate Q estimates with: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𝛾</m:t>
                      </m:r>
                      <m:limLow>
                        <m:limLow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lim>
                      </m:limLow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lang="en-US" b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DDA781-933E-E62B-73B8-77A1B229E7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09A938E-F076-8137-CE21-612E23C37B3B}"/>
                  </a:ext>
                </a:extLst>
              </p:cNvPr>
              <p:cNvSpPr txBox="1"/>
              <p:nvPr/>
            </p:nvSpPr>
            <p:spPr>
              <a:xfrm>
                <a:off x="7390436" y="137755"/>
                <a:ext cx="6099858" cy="8171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𝛾</m:t>
                      </m:r>
                      <m:limLow>
                        <m:limLow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lim>
                      </m:limLow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0=[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𝛾</m:t>
                      </m:r>
                      <m:limLow>
                        <m:limLow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lim>
                      </m:limLow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 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09A938E-F076-8137-CE21-612E23C37B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0436" y="137755"/>
                <a:ext cx="6099858" cy="8171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9AFE9F5-5635-B883-53FF-E549CE655140}"/>
              </a:ext>
            </a:extLst>
          </p:cNvPr>
          <p:cNvCxnSpPr/>
          <p:nvPr/>
        </p:nvCxnSpPr>
        <p:spPr>
          <a:xfrm flipV="1">
            <a:off x="4190035" y="3796496"/>
            <a:ext cx="0" cy="6481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4A8448B-7906-0545-3FE9-ACE17A039793}"/>
              </a:ext>
            </a:extLst>
          </p:cNvPr>
          <p:cNvSpPr txBox="1"/>
          <p:nvPr/>
        </p:nvSpPr>
        <p:spPr>
          <a:xfrm>
            <a:off x="3254362" y="4444678"/>
            <a:ext cx="187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Current estimate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F50A42-250C-66C6-D672-61925F495CFA}"/>
              </a:ext>
            </a:extLst>
          </p:cNvPr>
          <p:cNvSpPr txBox="1"/>
          <p:nvPr/>
        </p:nvSpPr>
        <p:spPr>
          <a:xfrm>
            <a:off x="4737851" y="4134670"/>
            <a:ext cx="1476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Learning rate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5B3475C-275E-E398-DC62-5B03BEEB97C6}"/>
              </a:ext>
            </a:extLst>
          </p:cNvPr>
          <p:cNvCxnSpPr/>
          <p:nvPr/>
        </p:nvCxnSpPr>
        <p:spPr>
          <a:xfrm flipV="1">
            <a:off x="5384156" y="3578506"/>
            <a:ext cx="0" cy="6481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1347E7D-6F53-7C06-0D53-4445AE630EA4}"/>
              </a:ext>
            </a:extLst>
          </p:cNvPr>
          <p:cNvSpPr txBox="1"/>
          <p:nvPr/>
        </p:nvSpPr>
        <p:spPr>
          <a:xfrm>
            <a:off x="6460120" y="4423457"/>
            <a:ext cx="2864785" cy="648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Error in estimate (Temporal Difference Error)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77AC4F6-DA34-0672-8599-4210F482B065}"/>
              </a:ext>
            </a:extLst>
          </p:cNvPr>
          <p:cNvCxnSpPr>
            <a:cxnSpLocks/>
          </p:cNvCxnSpPr>
          <p:nvPr/>
        </p:nvCxnSpPr>
        <p:spPr>
          <a:xfrm flipV="1">
            <a:off x="7726256" y="4145850"/>
            <a:ext cx="0" cy="3240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Left Brace 17">
            <a:extLst>
              <a:ext uri="{FF2B5EF4-FFF2-40B4-BE49-F238E27FC236}">
                <a16:creationId xmlns:a16="http://schemas.microsoft.com/office/drawing/2014/main" id="{754F80B2-4B92-142C-7B0F-921B6F91CBB7}"/>
              </a:ext>
            </a:extLst>
          </p:cNvPr>
          <p:cNvSpPr/>
          <p:nvPr/>
        </p:nvSpPr>
        <p:spPr>
          <a:xfrm rot="16200000">
            <a:off x="7540439" y="1676204"/>
            <a:ext cx="406053" cy="4352082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702743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D312B-32E8-A3B9-8206-26DFDDE41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Tabular Q-Learning</a:t>
            </a:r>
          </a:p>
        </p:txBody>
      </p:sp>
      <p:pic>
        <p:nvPicPr>
          <p:cNvPr id="5" name="Content Placeholder 4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92F4085A-EDA1-AC92-8267-62AAE56B10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19100" y="1707058"/>
            <a:ext cx="11353800" cy="4785817"/>
          </a:xfr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219492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8923F-1D43-1662-5094-9CCDC85DC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Where’s the Deep Learning part of this?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5B51CE-50FA-240B-A742-5875653337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Neural Networks are Function approximators and we have some functions…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→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  <a:p>
                <a:r>
                  <a:rPr lang="en-US" dirty="0"/>
                  <a:t>Deep Reinforcement Learning seeks to approximate these functions with neural networks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5B51CE-50FA-240B-A742-5875653337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7404868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93283-81F4-193D-975B-D15BF4D6A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 Q-Learning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191815-8FBF-22AA-F867-094FB11AB0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Approximate Q-values with a neural network</a:t>
                </a:r>
              </a:p>
              <a:p>
                <a:r>
                  <a:rPr lang="en-US" dirty="0"/>
                  <a:t>Always needed a loss function with neural networks before…</a:t>
                </a:r>
              </a:p>
              <a:p>
                <a:r>
                  <a:rPr lang="en-US" dirty="0"/>
                  <a:t>Can we come up with a loss function here?</a:t>
                </a:r>
              </a:p>
              <a:p>
                <a:r>
                  <a:rPr lang="en-US" dirty="0"/>
                  <a:t>We want this equality to hold: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0=[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𝛾</m:t>
                    </m:r>
                    <m:limLow>
                      <m:limLow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lim>
                    </m:limLow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] 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If we can force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𝛾</m:t>
                    </m:r>
                    <m:limLow>
                      <m:limLow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lim>
                    </m:limLow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] 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to be close to 0, we will have good approximations of Q-values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191815-8FBF-22AA-F867-094FB11AB0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1E84229-FDFF-05CC-EDBA-43EC3DC0EE4D}"/>
                  </a:ext>
                </a:extLst>
              </p:cNvPr>
              <p:cNvSpPr txBox="1"/>
              <p:nvPr/>
            </p:nvSpPr>
            <p:spPr>
              <a:xfrm>
                <a:off x="4537275" y="5173884"/>
                <a:ext cx="3928575" cy="7693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  <m:limLow>
                                    <m:limLow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max</m:t>
                                      </m:r>
                                    </m:e>
                                    <m:lim>
                                      <m:sSup>
                                        <m:sSup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lim>
                                  </m:limLow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p>
                                        <m:sSup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1E84229-FDFF-05CC-EDBA-43EC3DC0EE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7275" y="5173884"/>
                <a:ext cx="3928575" cy="76937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977825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EF810-6CB1-055E-E72D-7B466FB53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D8A39-310E-6703-6722-7B027D7A5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Q-Learning</a:t>
            </a:r>
          </a:p>
        </p:txBody>
      </p:sp>
      <p:pic>
        <p:nvPicPr>
          <p:cNvPr id="5" name="Content Placeholder 4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851F1128-5FA7-259D-8522-1724A30428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19100" y="1707058"/>
            <a:ext cx="11353800" cy="4785817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CD40A8E-2710-FE59-FAA8-2B799B74770F}"/>
              </a:ext>
            </a:extLst>
          </p:cNvPr>
          <p:cNvSpPr txBox="1"/>
          <p:nvPr/>
        </p:nvSpPr>
        <p:spPr>
          <a:xfrm>
            <a:off x="8229601" y="150471"/>
            <a:ext cx="3449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to update tabular Q-learning to be deep Q-learning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3E1F5B-B415-E457-2128-ACD11589BD5C}"/>
              </a:ext>
            </a:extLst>
          </p:cNvPr>
          <p:cNvSpPr txBox="1"/>
          <p:nvPr/>
        </p:nvSpPr>
        <p:spPr>
          <a:xfrm>
            <a:off x="7594010" y="4504611"/>
            <a:ext cx="4597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Can’t just update outputs of a NN directly…</a:t>
            </a:r>
          </a:p>
          <a:p>
            <a:r>
              <a:rPr lang="en-US" dirty="0"/>
              <a:t>Instead, compute loss and run a step of SGD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98F9361-0401-6639-A09C-7A6404124325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7106856" y="4827777"/>
            <a:ext cx="4871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0FAB6A4-C27B-88A4-1096-ACF5D9CC2851}"/>
                  </a:ext>
                </a:extLst>
              </p:cNvPr>
              <p:cNvSpPr txBox="1"/>
              <p:nvPr/>
            </p:nvSpPr>
            <p:spPr>
              <a:xfrm>
                <a:off x="7755038" y="835567"/>
                <a:ext cx="3928575" cy="7693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  <m:limLow>
                                    <m:limLow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max</m:t>
                                      </m:r>
                                    </m:e>
                                    <m:lim>
                                      <m:sSup>
                                        <m:sSup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lim>
                                  </m:limLow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p>
                                        <m:sSup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0FAB6A4-C27B-88A4-1096-ACF5D9CC28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5038" y="835567"/>
                <a:ext cx="3928575" cy="76937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4189272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C511C-5B93-665C-E94B-1D1260709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94A59AA-550F-1CBE-1767-E11A28AFBEDB}"/>
                  </a:ext>
                </a:extLst>
              </p:cNvPr>
              <p:cNvSpPr txBox="1"/>
              <p:nvPr/>
            </p:nvSpPr>
            <p:spPr>
              <a:xfrm>
                <a:off x="4371976" y="2615878"/>
                <a:ext cx="4073776" cy="369332"/>
              </a:xfrm>
              <a:prstGeom prst="rect">
                <a:avLst/>
              </a:prstGeom>
              <a:solidFill>
                <a:srgbClr val="FFC000"/>
              </a:solidFill>
              <a:ln w="3810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Important RL Notation: V, Q, G,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94A59AA-550F-1CBE-1767-E11A28AFBE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1976" y="2615878"/>
                <a:ext cx="4073776" cy="369332"/>
              </a:xfrm>
              <a:prstGeom prst="rect">
                <a:avLst/>
              </a:prstGeom>
              <a:blipFill>
                <a:blip r:embed="rId3"/>
                <a:stretch>
                  <a:fillRect b="-18182"/>
                </a:stretch>
              </a:blipFill>
              <a:ln w="381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D2AD2481-FA95-2194-2E00-AD26E87EEBB4}"/>
              </a:ext>
            </a:extLst>
          </p:cNvPr>
          <p:cNvSpPr txBox="1"/>
          <p:nvPr/>
        </p:nvSpPr>
        <p:spPr>
          <a:xfrm>
            <a:off x="4371976" y="3459718"/>
            <a:ext cx="4073776" cy="369332"/>
          </a:xfrm>
          <a:prstGeom prst="rect">
            <a:avLst/>
          </a:prstGeom>
          <a:solidFill>
            <a:srgbClr val="FFC000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Value Iteration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50207F-B533-5E2E-E93E-46D529E7FABB}"/>
              </a:ext>
            </a:extLst>
          </p:cNvPr>
          <p:cNvSpPr txBox="1"/>
          <p:nvPr/>
        </p:nvSpPr>
        <p:spPr>
          <a:xfrm>
            <a:off x="4371976" y="4488225"/>
            <a:ext cx="4073776" cy="369332"/>
          </a:xfrm>
          <a:prstGeom prst="rect">
            <a:avLst/>
          </a:prstGeom>
          <a:solidFill>
            <a:srgbClr val="FFC000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Q-Learning</a:t>
            </a:r>
          </a:p>
        </p:txBody>
      </p:sp>
      <p:pic>
        <p:nvPicPr>
          <p:cNvPr id="7" name="Picture 2" descr="What is Reinforcement Learning ...">
            <a:extLst>
              <a:ext uri="{FF2B5EF4-FFF2-40B4-BE49-F238E27FC236}">
                <a16:creationId xmlns:a16="http://schemas.microsoft.com/office/drawing/2014/main" id="{4618474E-6388-CBB6-CFB9-5A4B5C4293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3972" y="5052057"/>
            <a:ext cx="4458028" cy="1805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718D1A7-535B-251D-EE04-8A6ED961E82B}"/>
              </a:ext>
            </a:extLst>
          </p:cNvPr>
          <p:cNvSpPr txBox="1"/>
          <p:nvPr/>
        </p:nvSpPr>
        <p:spPr>
          <a:xfrm>
            <a:off x="2335088" y="5770362"/>
            <a:ext cx="4073776" cy="646331"/>
          </a:xfrm>
          <a:prstGeom prst="rect">
            <a:avLst/>
          </a:prstGeom>
          <a:solidFill>
            <a:srgbClr val="FFC000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Up Next: Deep-Q Learning tips, tricks, and variants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0822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ORIGINALSLIDENUMBER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ORIGINALSLIDENUMBER" val="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ORIGINALSLIDENUMBER" val="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ORIGINALSLIDENUMBER" val="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ORIGINALSLIDENUMBER" val="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ORIGINALSLIDENUMBER" val="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ORIGINALSLIDENUMBER" val="8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ORIGINALSLIDENUMBER" val="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ORIGINALSLIDENUMBER" val="1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ORIGINALSLIDENUMBER" val="1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ORIGINALSLIDENUMBER" val="1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ORIGINALSLIDENUMBER" val="1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ORIGINALSLIDENUMBER" val="1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ORIGINALSLIDENUMBER" val="1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ORIGINALSLIDENUMBER" val="1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ORIGINALSLIDENUMBER" val="17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ORIGINALSLIDENUMBER" val="18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ORIGINALSLIDENUMBER" val="19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ORIGINALSLIDENUMBER" val="2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ORIGINALSLIDENUMBER" val="2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1399</TotalTime>
  <Words>1255</Words>
  <Application>Microsoft Macintosh PowerPoint</Application>
  <PresentationFormat>Widescreen</PresentationFormat>
  <Paragraphs>146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Aptos Display</vt:lpstr>
      <vt:lpstr>Arial</vt:lpstr>
      <vt:lpstr>Cambria Math</vt:lpstr>
      <vt:lpstr>Montserrat</vt:lpstr>
      <vt:lpstr>Office Theme</vt:lpstr>
      <vt:lpstr>PowerPoint Presentation</vt:lpstr>
      <vt:lpstr>RL vs. Other Deep Learning</vt:lpstr>
      <vt:lpstr>Markov Decision Process (MDP) Review</vt:lpstr>
      <vt:lpstr>Gamma</vt:lpstr>
      <vt:lpstr>Key Terms</vt:lpstr>
      <vt:lpstr>Breakout Example</vt:lpstr>
      <vt:lpstr>Key Terms</vt:lpstr>
      <vt:lpstr>Value Function</vt:lpstr>
      <vt:lpstr>Value Function → Policy</vt:lpstr>
      <vt:lpstr>Value Iteration</vt:lpstr>
      <vt:lpstr>Value Iteration</vt:lpstr>
      <vt:lpstr>Tabular Value Iteration</vt:lpstr>
      <vt:lpstr>Q-Learning</vt:lpstr>
      <vt:lpstr>Q-Learning</vt:lpstr>
      <vt:lpstr>Collecting Experiences</vt:lpstr>
      <vt:lpstr>Updating estimates of Q-values</vt:lpstr>
      <vt:lpstr>Tabular Q-Learning</vt:lpstr>
      <vt:lpstr>Where’s the Deep Learning part of this?</vt:lpstr>
      <vt:lpstr>Deep Q-Learning</vt:lpstr>
      <vt:lpstr>Q-Learning</vt:lpstr>
      <vt:lpstr>Recap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Ewing</dc:creator>
  <cp:lastModifiedBy>Eric Ewing</cp:lastModifiedBy>
  <cp:revision>4</cp:revision>
  <dcterms:created xsi:type="dcterms:W3CDTF">2025-04-10T16:06:02Z</dcterms:created>
  <dcterms:modified xsi:type="dcterms:W3CDTF">2025-04-11T15:31:05Z</dcterms:modified>
</cp:coreProperties>
</file>